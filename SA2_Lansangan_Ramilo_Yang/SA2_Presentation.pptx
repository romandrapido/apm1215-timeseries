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246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8544" y="1325910"/>
            <a:ext cx="632676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SUMMATIVE ASSESSMENT 2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4095750" y="2101078"/>
            <a:ext cx="952500" cy="38100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10987" y="2430810"/>
            <a:ext cx="3922026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Aft>
                <a:spcPts val="2250"/>
              </a:spcAft>
              <a:buNone/>
            </a:pPr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Analysis and Modeling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007045" y="3215580"/>
            <a:ext cx="31299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Romand Lansangan, Zion Ramilo, Jinghua Yang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122658" y="3644205"/>
            <a:ext cx="8986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5750"/>
            <a:ext cx="41873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6250" y="2046982"/>
            <a:ext cx="2603450" cy="1544836"/>
          </a:xfrm>
          <a:prstGeom prst="roundRect">
            <a:avLst>
              <a:gd name="adj" fmla="val 493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95300" y="2046982"/>
            <a:ext cx="0" cy="1544836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850" y="2237482"/>
            <a:ext cx="22280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04850" y="2626072"/>
            <a:ext cx="222803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GARCH Volatility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850" y="3086993"/>
            <a:ext cx="222803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 Daily Returns (2015-2025), GARCH(1,1) with Student-t distribution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270200" y="2046982"/>
            <a:ext cx="2603450" cy="1544836"/>
          </a:xfrm>
          <a:prstGeom prst="roundRect">
            <a:avLst>
              <a:gd name="adj" fmla="val 493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89250" y="2046982"/>
            <a:ext cx="0" cy="1544836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8800" y="2237482"/>
            <a:ext cx="22280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98800" y="2626072"/>
            <a:ext cx="222803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ARIMAX Transfer Function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98800" y="3086993"/>
            <a:ext cx="222803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and Advertising, Prewhitening and CCF Analysis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064151" y="2046982"/>
            <a:ext cx="2603450" cy="1544836"/>
          </a:xfrm>
          <a:prstGeom prst="roundRect">
            <a:avLst>
              <a:gd name="adj" fmla="val 493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83201" y="2046982"/>
            <a:ext cx="0" cy="1544836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2751" y="2237482"/>
            <a:ext cx="22280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92751" y="2626072"/>
            <a:ext cx="222803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SARIMAX Intervention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2751" y="3086993"/>
            <a:ext cx="222803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Spanish Electricity Demand, Policy Impact Analysis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0704" y="1665089"/>
            <a:ext cx="8742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795433" y="2105025"/>
            <a:ext cx="2904935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20"/>
              </a:lnSpc>
              <a:spcAft>
                <a:spcPts val="1200"/>
              </a:spcAft>
              <a:buNone/>
            </a:pPr>
            <a:r>
              <a:rPr lang="en-US" sz="2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GARCH Volatility Modeling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1131528" y="3447752"/>
            <a:ext cx="2232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S&amp;P 500 ETF (SPY) Daily Returns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648200" y="1219349"/>
            <a:ext cx="4495800" cy="2704654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40648" y="1695599"/>
            <a:ext cx="15409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40648" y="1912739"/>
            <a:ext cx="15409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Yahoo Finance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40648" y="2343150"/>
            <a:ext cx="15409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PERIOD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40648" y="2560290"/>
            <a:ext cx="15409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2015 - 2025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40648" y="2990701"/>
            <a:ext cx="15409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40648" y="3207841"/>
            <a:ext cx="15409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~2,750 daily returns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5750"/>
            <a:ext cx="41873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76250" y="1897410"/>
            <a:ext cx="2786658" cy="817215"/>
          </a:xfrm>
          <a:prstGeom prst="roundRect">
            <a:avLst>
              <a:gd name="adj" fmla="val 69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030760"/>
            <a:ext cx="25703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2266950"/>
            <a:ext cx="257035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volatility clustering. COVID crash shows -12% drop with +8% rebound. Classic GARCH behavior.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76250" y="2867025"/>
            <a:ext cx="2786658" cy="817215"/>
          </a:xfrm>
          <a:prstGeom prst="roundRect">
            <a:avLst>
              <a:gd name="adj" fmla="val 699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3000375"/>
            <a:ext cx="25703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Volatility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9600" y="3236565"/>
            <a:ext cx="257035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Spikes during COVID (~7%). Elevated in Aug 2015, late 2018, and 2022.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491508" y="4591049"/>
            <a:ext cx="5176242" cy="287536"/>
          </a:xfrm>
          <a:prstGeom prst="roundRect">
            <a:avLst>
              <a:gd name="adj" fmla="val 26501"/>
            </a:avLst>
          </a:prstGeom>
          <a:solidFill>
            <a:srgbClr val="F0F4F8"/>
          </a:solidFill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44092" y="4648199"/>
            <a:ext cx="24709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 smtClean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SPY LOG </a:t>
            </a: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</a:t>
            </a:r>
            <a:r>
              <a:rPr lang="en-US" sz="975" dirty="0" smtClean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</a:t>
            </a:r>
            <a:endParaRPr lang="en-US" sz="975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508" y="606163"/>
            <a:ext cx="4707452" cy="39156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5750"/>
            <a:ext cx="41873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ACF/PACF of Squared Returns</a:t>
            </a:r>
            <a:endParaRPr lang="en-US" sz="2250" dirty="0"/>
          </a:p>
        </p:txBody>
      </p:sp>
      <p:grpSp>
        <p:nvGrpSpPr>
          <p:cNvPr id="17" name="Group 16"/>
          <p:cNvGrpSpPr/>
          <p:nvPr/>
        </p:nvGrpSpPr>
        <p:grpSpPr>
          <a:xfrm>
            <a:off x="683765" y="3505675"/>
            <a:ext cx="3582888" cy="573286"/>
            <a:chOff x="95479" y="3815202"/>
            <a:chExt cx="3582888" cy="573286"/>
          </a:xfrm>
        </p:grpSpPr>
        <p:sp>
          <p:nvSpPr>
            <p:cNvPr id="5" name="Text 3"/>
            <p:cNvSpPr/>
            <p:nvPr/>
          </p:nvSpPr>
          <p:spPr>
            <a:xfrm>
              <a:off x="95479" y="3815202"/>
              <a:ext cx="3582888" cy="573286"/>
            </a:xfrm>
            <a:prstGeom prst="roundRect">
              <a:avLst>
                <a:gd name="adj" fmla="val 9969"/>
              </a:avLst>
            </a:prstGeom>
            <a:solidFill>
              <a:srgbClr val="F8FAFC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109766" y="3815202"/>
              <a:ext cx="0" cy="573286"/>
            </a:xfrm>
            <a:prstGeom prst="line">
              <a:avLst/>
            </a:prstGeom>
            <a:noFill/>
            <a:ln w="28575">
              <a:solidFill>
                <a:srgbClr val="1E3A5F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238354" y="3929502"/>
              <a:ext cx="3392228" cy="1599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60"/>
                </a:lnSpc>
                <a:spcAft>
                  <a:spcPts val="300"/>
                </a:spcAft>
                <a:buNone/>
              </a:pPr>
              <a:r>
                <a:rPr lang="en-US" sz="900" b="1" dirty="0">
                  <a:solidFill>
                    <a:srgbClr val="1E3A5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ACF Analysis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38354" y="4127592"/>
              <a:ext cx="3392228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buNone/>
              </a:pPr>
              <a:r>
                <a:rPr lang="en-US" sz="825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Slow decay from ~0.47 at lag 1 through lag 20. GARCH term needed.</a:t>
              </a:r>
              <a:endParaRPr lang="en-US" sz="825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069894" y="3505675"/>
            <a:ext cx="3582888" cy="573286"/>
            <a:chOff x="1335993" y="4051697"/>
            <a:chExt cx="3582888" cy="573286"/>
          </a:xfrm>
        </p:grpSpPr>
        <p:sp>
          <p:nvSpPr>
            <p:cNvPr id="9" name="Text 7"/>
            <p:cNvSpPr/>
            <p:nvPr/>
          </p:nvSpPr>
          <p:spPr>
            <a:xfrm>
              <a:off x="1335993" y="4051697"/>
              <a:ext cx="3582888" cy="573286"/>
            </a:xfrm>
            <a:prstGeom prst="roundRect">
              <a:avLst>
                <a:gd name="adj" fmla="val 9969"/>
              </a:avLst>
            </a:prstGeom>
            <a:solidFill>
              <a:srgbClr val="F8FAFC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350280" y="4051697"/>
              <a:ext cx="0" cy="573286"/>
            </a:xfrm>
            <a:prstGeom prst="line">
              <a:avLst/>
            </a:prstGeom>
            <a:noFill/>
            <a:ln w="28575">
              <a:solidFill>
                <a:srgbClr val="1E3A5F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1478868" y="4165997"/>
              <a:ext cx="3392228" cy="1599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60"/>
                </a:lnSpc>
                <a:spcAft>
                  <a:spcPts val="300"/>
                </a:spcAft>
                <a:buNone/>
              </a:pPr>
              <a:r>
                <a:rPr lang="en-US" sz="900" b="1" dirty="0">
                  <a:solidFill>
                    <a:srgbClr val="1E3A5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PACF Analysis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478868" y="4364087"/>
              <a:ext cx="3392228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buNone/>
              </a:pPr>
              <a:r>
                <a:rPr lang="en-US" sz="825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Sharp cutoff after lags 1-2. ARCH(1) sufficient.</a:t>
              </a:r>
              <a:endParaRPr lang="en-US" sz="825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872187" y="4307832"/>
            <a:ext cx="3582888" cy="573286"/>
            <a:chOff x="1335993" y="4739283"/>
            <a:chExt cx="3582888" cy="573286"/>
          </a:xfrm>
        </p:grpSpPr>
        <p:sp>
          <p:nvSpPr>
            <p:cNvPr id="13" name="Text 11"/>
            <p:cNvSpPr/>
            <p:nvPr/>
          </p:nvSpPr>
          <p:spPr>
            <a:xfrm>
              <a:off x="1335993" y="4739283"/>
              <a:ext cx="3582888" cy="573286"/>
            </a:xfrm>
            <a:prstGeom prst="roundRect">
              <a:avLst>
                <a:gd name="adj" fmla="val 9969"/>
              </a:avLst>
            </a:prstGeom>
            <a:solidFill>
              <a:srgbClr val="1E3A5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450293" y="4853583"/>
              <a:ext cx="3421374" cy="1599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60"/>
                </a:lnSpc>
                <a:spcAft>
                  <a:spcPts val="300"/>
                </a:spcAft>
                <a:buNone/>
              </a:pPr>
              <a:r>
                <a:rPr lang="en-US" sz="900" b="1" dirty="0">
                  <a:solidFill>
                    <a:srgbClr val="2DD4B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Recommendation</a:t>
              </a:r>
              <a:endParaRPr lang="en-US" sz="9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450293" y="5051673"/>
              <a:ext cx="3421374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buNone/>
              </a:pPr>
              <a:r>
                <a:rPr lang="en-US" sz="825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Start with GARCH(1,1) - parsimonious specification</a:t>
              </a:r>
              <a:endParaRPr lang="en-US" sz="825" dirty="0"/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286" y="874767"/>
            <a:ext cx="6098689" cy="24620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5750"/>
            <a:ext cx="41873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Selection: Grid Search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76250" y="964764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search: p,q in {1,2,3}, distributions: Normal, Student-t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686300" y="1946077"/>
            <a:ext cx="3981450" cy="700832"/>
          </a:xfrm>
          <a:prstGeom prst="roundRect">
            <a:avLst>
              <a:gd name="adj" fmla="val 1087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38700" y="2098477"/>
            <a:ext cx="37501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Model: GARCH(1,1)_t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838700" y="2347913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BIC, parsimonious. Student-t handles fat tails.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686300" y="2780258"/>
            <a:ext cx="3981450" cy="855315"/>
          </a:xfrm>
          <a:prstGeom prst="roundRect">
            <a:avLst>
              <a:gd name="adj" fmla="val 890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38700" y="2932658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38700" y="3168848"/>
            <a:ext cx="375018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Student-t models outperform Normal by ~140 BIC. Higher-order models offer minimal improvement.</a:t>
            </a:r>
            <a:endParaRPr lang="en-US" sz="825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34" y="1191216"/>
            <a:ext cx="3495490" cy="38028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"/>
          <p:cNvSpPr/>
          <p:nvPr/>
        </p:nvSpPr>
        <p:spPr>
          <a:xfrm>
            <a:off x="180876" y="701874"/>
            <a:ext cx="4734024" cy="4060626"/>
          </a:xfrm>
          <a:prstGeom prst="roundRect">
            <a:avLst>
              <a:gd name="adj" fmla="val 8138"/>
            </a:avLst>
          </a:prstGeom>
          <a:noFill/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476250" y="285750"/>
            <a:ext cx="41873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Diagnostics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084862" y="1652736"/>
            <a:ext cx="3582888" cy="337096"/>
          </a:xfrm>
          <a:prstGeom prst="roundRect">
            <a:avLst>
              <a:gd name="adj" fmla="val 16954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80112" y="1747986"/>
            <a:ext cx="3460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Ljung-Box (Residuals): p &gt; 0.67 - No serial correlation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084862" y="2085082"/>
            <a:ext cx="3582888" cy="337096"/>
          </a:xfrm>
          <a:prstGeom prst="roundRect">
            <a:avLst>
              <a:gd name="adj" fmla="val 16954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80112" y="2180332"/>
            <a:ext cx="3460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Ljung-Box (Squared): p &gt; 0.37 - No ARCH effects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084862" y="2517428"/>
            <a:ext cx="3582888" cy="337096"/>
          </a:xfrm>
          <a:prstGeom prst="roundRect">
            <a:avLst>
              <a:gd name="adj" fmla="val 16954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80112" y="2612678"/>
            <a:ext cx="3460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ARCH-LM: p = 0.55 - Volatility captured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84862" y="2949773"/>
            <a:ext cx="3582888" cy="337096"/>
          </a:xfrm>
          <a:prstGeom prst="roundRect">
            <a:avLst>
              <a:gd name="adj" fmla="val 1695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80112" y="3045023"/>
            <a:ext cx="3460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Normality: JB p = 0 - Non-normal (expected with t-dist)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084862" y="3382119"/>
            <a:ext cx="3582888" cy="546646"/>
          </a:xfrm>
          <a:prstGeom prst="roundRect">
            <a:avLst>
              <a:gd name="adj" fmla="val 1045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99162" y="3496419"/>
            <a:ext cx="34213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199162" y="3681115"/>
            <a:ext cx="34213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GARCH(1,1)_t well-specified. Suitable for forecasting.</a:t>
            </a:r>
            <a:endParaRPr lang="en-US" sz="7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58" y="991517"/>
            <a:ext cx="4454567" cy="35355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5750"/>
            <a:ext cx="41873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Volatility Forecasting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76250" y="714375"/>
            <a:ext cx="4778127" cy="3682365"/>
          </a:xfrm>
          <a:prstGeom prst="roundRect">
            <a:avLst>
              <a:gd name="adj" fmla="val 8138"/>
            </a:avLst>
          </a:prstGeom>
          <a:solidFill>
            <a:srgbClr val="F0F4F8"/>
          </a:solidFill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1272926" y="3342233"/>
            <a:ext cx="3184773" cy="834182"/>
            <a:chOff x="5482977" y="1561356"/>
            <a:chExt cx="3184773" cy="834182"/>
          </a:xfrm>
        </p:grpSpPr>
        <p:sp>
          <p:nvSpPr>
            <p:cNvPr id="5" name="Text 3"/>
            <p:cNvSpPr/>
            <p:nvPr/>
          </p:nvSpPr>
          <p:spPr>
            <a:xfrm>
              <a:off x="5482977" y="1561356"/>
              <a:ext cx="3184773" cy="834182"/>
            </a:xfrm>
            <a:prstGeom prst="roundRect">
              <a:avLst>
                <a:gd name="adj" fmla="val 6851"/>
              </a:avLst>
            </a:prstGeom>
            <a:solidFill>
              <a:srgbClr val="F8FAFC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616327" y="1694706"/>
              <a:ext cx="2976435" cy="1599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60"/>
                </a:lnSpc>
                <a:spcAft>
                  <a:spcPts val="600"/>
                </a:spcAft>
                <a:buNone/>
              </a:pPr>
              <a:r>
                <a:rPr lang="en-US" sz="900" b="1" dirty="0">
                  <a:solidFill>
                    <a:srgbClr val="1E3A5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Forecast Accuracy</a:t>
              </a:r>
              <a:endParaRPr lang="en-US" sz="9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616327" y="1930896"/>
              <a:ext cx="2976435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155"/>
                </a:lnSpc>
                <a:buNone/>
              </a:pPr>
              <a:r>
                <a:rPr lang="en-US" sz="825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MSE: 0.1109, MAE: 0.2339</a:t>
              </a:r>
              <a:endParaRPr lang="en-US" sz="825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616327" y="2115592"/>
              <a:ext cx="2976435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155"/>
                </a:lnSpc>
                <a:spcBef>
                  <a:spcPts val="300"/>
                </a:spcBef>
                <a:buNone/>
              </a:pPr>
              <a:r>
                <a:rPr lang="en-US" sz="825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95% CI Coverage: 48.0%</a:t>
              </a:r>
              <a:endParaRPr lang="en-US" sz="825" dirty="0"/>
            </a:p>
          </p:txBody>
        </p:sp>
      </p:grpSp>
      <p:sp>
        <p:nvSpPr>
          <p:cNvPr id="9" name="Text 7"/>
          <p:cNvSpPr/>
          <p:nvPr/>
        </p:nvSpPr>
        <p:spPr>
          <a:xfrm>
            <a:off x="5482977" y="1817370"/>
            <a:ext cx="3184773" cy="718096"/>
          </a:xfrm>
          <a:prstGeom prst="roundRect">
            <a:avLst>
              <a:gd name="adj" fmla="val 795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16327" y="1950720"/>
            <a:ext cx="29764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616327" y="2135415"/>
            <a:ext cx="29764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forecasts converge to unconditional mean. Use rolling re-estimation for better performance.</a:t>
            </a:r>
            <a:endParaRPr lang="en-US" sz="750" dirty="0"/>
          </a:p>
        </p:txBody>
      </p:sp>
      <p:grpSp>
        <p:nvGrpSpPr>
          <p:cNvPr id="16" name="Group 15"/>
          <p:cNvGrpSpPr/>
          <p:nvPr/>
        </p:nvGrpSpPr>
        <p:grpSpPr>
          <a:xfrm>
            <a:off x="5482977" y="2649765"/>
            <a:ext cx="3184773" cy="678061"/>
            <a:chOff x="5482977" y="3342233"/>
            <a:chExt cx="3184773" cy="678061"/>
          </a:xfrm>
        </p:grpSpPr>
        <p:sp>
          <p:nvSpPr>
            <p:cNvPr id="12" name="Text 10"/>
            <p:cNvSpPr/>
            <p:nvPr/>
          </p:nvSpPr>
          <p:spPr>
            <a:xfrm>
              <a:off x="5482977" y="3342233"/>
              <a:ext cx="3184773" cy="678061"/>
            </a:xfrm>
            <a:prstGeom prst="roundRect">
              <a:avLst>
                <a:gd name="adj" fmla="val 8428"/>
              </a:avLst>
            </a:prstGeom>
            <a:solidFill>
              <a:srgbClr val="1E3A5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616327" y="3475583"/>
              <a:ext cx="2976435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spcAft>
                  <a:spcPts val="300"/>
                </a:spcAft>
                <a:buNone/>
              </a:pPr>
              <a:r>
                <a:rPr lang="en-US" sz="750" dirty="0">
                  <a:solidFill>
                    <a:srgbClr val="94A3B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Long-run Volatility</a:t>
              </a:r>
              <a:endParaRPr lang="en-US" sz="7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616327" y="3647033"/>
              <a:ext cx="2976435" cy="2399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90"/>
                </a:lnSpc>
                <a:buNone/>
              </a:pPr>
              <a:r>
                <a:rPr lang="en-US" sz="1350" b="1" dirty="0">
                  <a:solidFill>
                    <a:srgbClr val="2DD4B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1.0046</a:t>
              </a:r>
              <a:endParaRPr lang="en-US" sz="1350" dirty="0"/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12" y="1015424"/>
            <a:ext cx="4458768" cy="22125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8425" y="1665089"/>
            <a:ext cx="8789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B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810006" y="2105025"/>
            <a:ext cx="2875788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20"/>
              </a:lnSpc>
              <a:spcAft>
                <a:spcPts val="1200"/>
              </a:spcAft>
              <a:buNone/>
            </a:pPr>
            <a:r>
              <a:rPr lang="en-US" sz="2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ARIMAX Transfer Function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1259501" y="3278386"/>
            <a:ext cx="1976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and Advertising Analysis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648200" y="1259384"/>
            <a:ext cx="4495800" cy="262473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29721" y="1735634"/>
            <a:ext cx="25832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29721" y="1952774"/>
            <a:ext cx="25832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Prewhitening, CCF, Transfer Function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29721" y="2356545"/>
            <a:ext cx="25832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29721" y="2573685"/>
            <a:ext cx="25832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(52 periods/year)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29721" y="2977455"/>
            <a:ext cx="25832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29721" y="3194596"/>
            <a:ext cx="25832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(output), Advertising (input)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5750"/>
            <a:ext cx="41873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Baseline: Auto ARIMA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76250" y="1610767"/>
            <a:ext cx="3184773" cy="546646"/>
          </a:xfrm>
          <a:prstGeom prst="roundRect">
            <a:avLst>
              <a:gd name="adj" fmla="val 104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0550" y="1725067"/>
            <a:ext cx="30152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Stationarity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590550" y="1909762"/>
            <a:ext cx="30152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ADF Test p &lt; 0.01 - Series is stationary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76250" y="2271713"/>
            <a:ext cx="3184773" cy="599926"/>
          </a:xfrm>
          <a:prstGeom prst="roundRect">
            <a:avLst>
              <a:gd name="adj" fmla="val 952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0550" y="2386013"/>
            <a:ext cx="30152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ARIMA Selection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90550" y="2570708"/>
            <a:ext cx="30152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ARIMA(0,0,1)(0,1,1)[52]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6250" y="2985939"/>
            <a:ext cx="3184773" cy="546646"/>
          </a:xfrm>
          <a:prstGeom prst="roundRect">
            <a:avLst>
              <a:gd name="adj" fmla="val 104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0550" y="3100239"/>
            <a:ext cx="30152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Fit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90550" y="3284934"/>
            <a:ext cx="30152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AIC: 5958.77, BIC: 5967.94, MAPE: 22.07%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6250" y="3646884"/>
            <a:ext cx="3184773" cy="323850"/>
          </a:xfrm>
          <a:prstGeom prst="roundRect">
            <a:avLst>
              <a:gd name="adj" fmla="val 17647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500" y="3742134"/>
            <a:ext cx="30541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Ljung-Box: p = 0.69 - Residuals uncorrelated</a:t>
            </a:r>
            <a:endParaRPr lang="en-US" sz="7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250" y="35498"/>
            <a:ext cx="4085069" cy="241052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251" y="2472280"/>
            <a:ext cx="4245089" cy="26372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5750"/>
            <a:ext cx="41873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Prewhitening and CCF Analysis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81940" y="1066800"/>
            <a:ext cx="4175760" cy="3009900"/>
          </a:xfrm>
          <a:prstGeom prst="roundRect">
            <a:avLst>
              <a:gd name="adj" fmla="val 7147"/>
            </a:avLst>
          </a:prstGeom>
          <a:noFill/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476250" y="4286250"/>
            <a:ext cx="3981450" cy="546646"/>
            <a:chOff x="476250" y="2714625"/>
            <a:chExt cx="3981450" cy="546646"/>
          </a:xfrm>
        </p:grpSpPr>
        <p:sp>
          <p:nvSpPr>
            <p:cNvPr id="5" name="Text 3"/>
            <p:cNvSpPr/>
            <p:nvPr/>
          </p:nvSpPr>
          <p:spPr>
            <a:xfrm>
              <a:off x="476250" y="2714625"/>
              <a:ext cx="3981450" cy="546646"/>
            </a:xfrm>
            <a:prstGeom prst="roundRect">
              <a:avLst>
                <a:gd name="adj" fmla="val 10455"/>
              </a:avLst>
            </a:prstGeom>
            <a:solidFill>
              <a:srgbClr val="F8FAFC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90550" y="2828925"/>
              <a:ext cx="3827907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spcAft>
                  <a:spcPts val="300"/>
                </a:spcAft>
                <a:buNone/>
              </a:pPr>
              <a:r>
                <a:rPr lang="en-US" sz="825" b="1" dirty="0">
                  <a:solidFill>
                    <a:srgbClr val="1E3A5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Prewhitening</a:t>
              </a:r>
              <a:endParaRPr lang="en-US" sz="825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90550" y="3013621"/>
              <a:ext cx="3827907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75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ARIMA(0,1,2)(1,1,0)[52] filter applied to both series</a:t>
              </a:r>
              <a:endParaRPr lang="en-US" sz="75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686300" y="4286250"/>
            <a:ext cx="3981450" cy="546646"/>
            <a:chOff x="4686300" y="2714625"/>
            <a:chExt cx="3981450" cy="546646"/>
          </a:xfrm>
        </p:grpSpPr>
        <p:sp>
          <p:nvSpPr>
            <p:cNvPr id="10" name="Text 8"/>
            <p:cNvSpPr/>
            <p:nvPr/>
          </p:nvSpPr>
          <p:spPr>
            <a:xfrm>
              <a:off x="4686300" y="2714625"/>
              <a:ext cx="3981450" cy="546646"/>
            </a:xfrm>
            <a:prstGeom prst="roundRect">
              <a:avLst>
                <a:gd name="adj" fmla="val 10455"/>
              </a:avLst>
            </a:prstGeom>
            <a:solidFill>
              <a:srgbClr val="FEF3C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800600" y="2828925"/>
              <a:ext cx="3827907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spcAft>
                  <a:spcPts val="300"/>
                </a:spcAft>
                <a:buNone/>
              </a:pPr>
              <a:r>
                <a:rPr lang="en-US" sz="825" b="1" dirty="0">
                  <a:solidFill>
                    <a:srgbClr val="92400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CCF Findings</a:t>
              </a:r>
              <a:endParaRPr lang="en-US" sz="825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800600" y="3013621"/>
              <a:ext cx="3827907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750" dirty="0">
                  <a:solidFill>
                    <a:srgbClr val="92400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Only 2 significant lags (10 and 16). Weak relationship overall.</a:t>
              </a:r>
              <a:endParaRPr lang="en-US" sz="750" dirty="0"/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214681"/>
            <a:ext cx="3878580" cy="2733187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4686300" y="1090368"/>
            <a:ext cx="4175760" cy="3009900"/>
          </a:xfrm>
          <a:prstGeom prst="roundRect">
            <a:avLst>
              <a:gd name="adj" fmla="val 7147"/>
            </a:avLst>
          </a:prstGeom>
          <a:noFill/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14681"/>
            <a:ext cx="3985260" cy="28010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5750"/>
            <a:ext cx="44302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ARIMAX Transfer Function Model</a:t>
            </a:r>
            <a:endParaRPr lang="en-US" sz="2250" dirty="0"/>
          </a:p>
        </p:txBody>
      </p:sp>
      <p:grpSp>
        <p:nvGrpSpPr>
          <p:cNvPr id="12" name="Group 11"/>
          <p:cNvGrpSpPr/>
          <p:nvPr/>
        </p:nvGrpSpPr>
        <p:grpSpPr>
          <a:xfrm>
            <a:off x="476250" y="2159570"/>
            <a:ext cx="3343870" cy="586532"/>
            <a:chOff x="476250" y="1559272"/>
            <a:chExt cx="3343870" cy="586532"/>
          </a:xfrm>
        </p:grpSpPr>
        <p:sp>
          <p:nvSpPr>
            <p:cNvPr id="3" name="Text 1"/>
            <p:cNvSpPr/>
            <p:nvPr/>
          </p:nvSpPr>
          <p:spPr>
            <a:xfrm>
              <a:off x="476250" y="1559272"/>
              <a:ext cx="3343870" cy="586532"/>
            </a:xfrm>
            <a:prstGeom prst="roundRect">
              <a:avLst>
                <a:gd name="adj" fmla="val 9744"/>
              </a:avLst>
            </a:prstGeom>
            <a:solidFill>
              <a:srgbClr val="1E3A5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590550" y="1673572"/>
              <a:ext cx="3177576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spcAft>
                  <a:spcPts val="300"/>
                </a:spcAft>
                <a:buNone/>
              </a:pPr>
              <a:r>
                <a:rPr lang="en-US" sz="825" b="1" dirty="0">
                  <a:solidFill>
                    <a:srgbClr val="2DD4B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Model</a:t>
              </a:r>
              <a:endParaRPr lang="en-US" sz="825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90550" y="1858268"/>
              <a:ext cx="3177576" cy="173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65"/>
                </a:lnSpc>
                <a:buNone/>
              </a:pPr>
              <a:r>
                <a:rPr lang="en-US" sz="975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ARIMA(0,0,1)(0,1,1)[52] + lags</a:t>
              </a:r>
              <a:endParaRPr lang="en-US" sz="975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76250" y="2991743"/>
            <a:ext cx="3343870" cy="323850"/>
            <a:chOff x="476250" y="3279279"/>
            <a:chExt cx="3343870" cy="323850"/>
          </a:xfrm>
        </p:grpSpPr>
        <p:sp>
          <p:nvSpPr>
            <p:cNvPr id="6" name="Text 4"/>
            <p:cNvSpPr/>
            <p:nvPr/>
          </p:nvSpPr>
          <p:spPr>
            <a:xfrm>
              <a:off x="476250" y="3279279"/>
              <a:ext cx="3343870" cy="323850"/>
            </a:xfrm>
            <a:prstGeom prst="roundRect">
              <a:avLst>
                <a:gd name="adj" fmla="val 17647"/>
              </a:avLst>
            </a:prstGeom>
            <a:solidFill>
              <a:srgbClr val="FEF3C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71500" y="3374529"/>
              <a:ext cx="3216438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750" dirty="0">
                  <a:solidFill>
                    <a:srgbClr val="92400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Advertising lags NOT significant. Sales driven by own history.</a:t>
              </a:r>
              <a:endParaRPr lang="en-US" sz="75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76250" y="3410843"/>
            <a:ext cx="3343870" cy="323850"/>
            <a:chOff x="476250" y="3698379"/>
            <a:chExt cx="3343870" cy="323850"/>
          </a:xfrm>
        </p:grpSpPr>
        <p:sp>
          <p:nvSpPr>
            <p:cNvPr id="8" name="Text 6"/>
            <p:cNvSpPr/>
            <p:nvPr/>
          </p:nvSpPr>
          <p:spPr>
            <a:xfrm>
              <a:off x="476250" y="3698379"/>
              <a:ext cx="3343870" cy="323850"/>
            </a:xfrm>
            <a:prstGeom prst="roundRect">
              <a:avLst>
                <a:gd name="adj" fmla="val 17647"/>
              </a:avLst>
            </a:prstGeom>
            <a:solidFill>
              <a:srgbClr val="DCFCE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71500" y="3793629"/>
              <a:ext cx="3216438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750" dirty="0">
                  <a:solidFill>
                    <a:srgbClr val="16653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AIC: 325.32 (much lower than baseline)</a:t>
              </a:r>
              <a:endParaRPr lang="en-US" sz="750" dirty="0"/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080" y="788670"/>
            <a:ext cx="4198620" cy="41986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8425" y="1665089"/>
            <a:ext cx="8789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1256919" y="2105025"/>
            <a:ext cx="1981962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20"/>
              </a:lnSpc>
              <a:spcAft>
                <a:spcPts val="1200"/>
              </a:spcAft>
              <a:buNone/>
            </a:pPr>
            <a:r>
              <a:rPr lang="en-US" sz="28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SARIMAX Intervention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1356808" y="3407867"/>
            <a:ext cx="17820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Spanish Electricity Demand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648200" y="1259384"/>
            <a:ext cx="4495800" cy="2624733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12371" y="1735634"/>
            <a:ext cx="15986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12371" y="1952774"/>
            <a:ext cx="15986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Energy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12371" y="2356545"/>
            <a:ext cx="15986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PERIOD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12371" y="2573685"/>
            <a:ext cx="15986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2015 - 2019 (Daily)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12371" y="2977455"/>
            <a:ext cx="15986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12371" y="3194596"/>
            <a:ext cx="15986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1, 2017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5750"/>
            <a:ext cx="41873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2250" dirty="0"/>
          </a:p>
        </p:txBody>
      </p:sp>
      <p:grpSp>
        <p:nvGrpSpPr>
          <p:cNvPr id="15" name="Group 14"/>
          <p:cNvGrpSpPr/>
          <p:nvPr/>
        </p:nvGrpSpPr>
        <p:grpSpPr>
          <a:xfrm>
            <a:off x="5084862" y="3094584"/>
            <a:ext cx="3582888" cy="575221"/>
            <a:chOff x="5084862" y="1858417"/>
            <a:chExt cx="3582888" cy="575221"/>
          </a:xfrm>
        </p:grpSpPr>
        <p:sp>
          <p:nvSpPr>
            <p:cNvPr id="5" name="Text 3"/>
            <p:cNvSpPr/>
            <p:nvPr/>
          </p:nvSpPr>
          <p:spPr>
            <a:xfrm>
              <a:off x="5084862" y="1858417"/>
              <a:ext cx="3582888" cy="575221"/>
            </a:xfrm>
            <a:prstGeom prst="roundRect">
              <a:avLst>
                <a:gd name="adj" fmla="val 9935"/>
              </a:avLst>
            </a:prstGeom>
            <a:solidFill>
              <a:srgbClr val="F8FAFC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5199162" y="1972717"/>
              <a:ext cx="3421374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spcAft>
                  <a:spcPts val="450"/>
                </a:spcAft>
                <a:buNone/>
              </a:pPr>
              <a:r>
                <a:rPr lang="en-US" sz="825" b="1" dirty="0">
                  <a:solidFill>
                    <a:srgbClr val="1E3A5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 Characteristics</a:t>
              </a:r>
              <a:endParaRPr lang="en-US" sz="825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199162" y="2176463"/>
              <a:ext cx="3421374" cy="142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25"/>
                </a:lnSpc>
                <a:buNone/>
              </a:pPr>
              <a:r>
                <a:rPr lang="en-US" sz="75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1,462 daily observations. Mean load: 688,288 MWh. Temperature: 5-30C.</a:t>
              </a:r>
              <a:endParaRPr lang="en-US" sz="75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084862" y="3765055"/>
            <a:ext cx="3582888" cy="565696"/>
            <a:chOff x="5084862" y="2528888"/>
            <a:chExt cx="3582888" cy="565696"/>
          </a:xfrm>
        </p:grpSpPr>
        <p:sp>
          <p:nvSpPr>
            <p:cNvPr id="8" name="Text 6"/>
            <p:cNvSpPr/>
            <p:nvPr/>
          </p:nvSpPr>
          <p:spPr>
            <a:xfrm>
              <a:off x="5084862" y="2528888"/>
              <a:ext cx="3582888" cy="565696"/>
            </a:xfrm>
            <a:prstGeom prst="roundRect">
              <a:avLst>
                <a:gd name="adj" fmla="val 10103"/>
              </a:avLst>
            </a:prstGeom>
            <a:solidFill>
              <a:srgbClr val="F8FAFC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199162" y="2643188"/>
              <a:ext cx="3421374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spcAft>
                  <a:spcPts val="450"/>
                </a:spcAft>
                <a:buNone/>
              </a:pPr>
              <a:r>
                <a:rPr lang="en-US" sz="825" b="1" dirty="0">
                  <a:solidFill>
                    <a:srgbClr val="1E3A5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Stationarity Tests</a:t>
              </a:r>
              <a:endParaRPr lang="en-US" sz="825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199162" y="2846933"/>
              <a:ext cx="3421374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750" dirty="0">
                  <a:solidFill>
                    <a:srgbClr val="47556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ADF (levels): p &lt; 0.001. ADF (log-diff): p &lt; 0.001.</a:t>
              </a:r>
              <a:endParaRPr lang="en-US" sz="75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084862" y="4426000"/>
            <a:ext cx="3582888" cy="533400"/>
            <a:chOff x="5084862" y="3189833"/>
            <a:chExt cx="3582888" cy="533400"/>
          </a:xfrm>
        </p:grpSpPr>
        <p:sp>
          <p:nvSpPr>
            <p:cNvPr id="11" name="Text 9"/>
            <p:cNvSpPr/>
            <p:nvPr/>
          </p:nvSpPr>
          <p:spPr>
            <a:xfrm>
              <a:off x="5084862" y="3189833"/>
              <a:ext cx="3582888" cy="533400"/>
            </a:xfrm>
            <a:prstGeom prst="roundRect">
              <a:avLst>
                <a:gd name="adj" fmla="val 10714"/>
              </a:avLst>
            </a:prstGeom>
            <a:solidFill>
              <a:srgbClr val="1E3A5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199162" y="3304133"/>
              <a:ext cx="3421374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spcAft>
                  <a:spcPts val="300"/>
                </a:spcAft>
                <a:buNone/>
              </a:pPr>
              <a:r>
                <a:rPr lang="en-US" sz="750" b="1" dirty="0">
                  <a:solidFill>
                    <a:srgbClr val="2DD4B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Transformation</a:t>
              </a:r>
              <a:endParaRPr lang="en-US" sz="7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199162" y="3475583"/>
              <a:ext cx="3421374" cy="133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75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Log-transform stabilizes variance. ARIMA with d=1.</a:t>
              </a:r>
              <a:endParaRPr lang="en-US" sz="750" dirty="0"/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177" y="628649"/>
            <a:ext cx="6486907" cy="180238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537986"/>
            <a:ext cx="3693633" cy="24541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5750"/>
            <a:ext cx="41873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Intervention Model Design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76250" y="1816596"/>
            <a:ext cx="3981450" cy="1177082"/>
          </a:xfrm>
          <a:prstGeom prst="roundRect">
            <a:avLst>
              <a:gd name="adj" fmla="val 48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949946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Variables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09600" y="2186136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DUMMY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609600" y="2351782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 on intervention day only (Jan 1, 2017)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09600" y="2561332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DUMMY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09600" y="2726978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 from intervention day onwards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76250" y="3107978"/>
            <a:ext cx="3981450" cy="657076"/>
          </a:xfrm>
          <a:prstGeom prst="roundRect">
            <a:avLst>
              <a:gd name="adj" fmla="val 869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3241328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 (AIC Selection)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09600" y="3445073"/>
            <a:ext cx="37890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SARIMAX(0,1,1)x(1,0,1)7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86300" y="1945035"/>
            <a:ext cx="3981450" cy="788640"/>
          </a:xfrm>
          <a:prstGeom prst="roundRect">
            <a:avLst>
              <a:gd name="adj" fmla="val 724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9650" y="2078385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Selection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19650" y="2295525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search over p,q and P,Q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19650" y="2466975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AIC: -2610.88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86300" y="2847975"/>
            <a:ext cx="3981450" cy="788640"/>
          </a:xfrm>
          <a:prstGeom prst="roundRect">
            <a:avLst>
              <a:gd name="adj" fmla="val 724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9650" y="2981325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Train/Test Split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19650" y="3198465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Dec 2014 - Jun 2018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19650" y="3369915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Jul 2018 - Dec 2018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5750"/>
            <a:ext cx="4187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Intervention Effects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76250" y="3962400"/>
            <a:ext cx="3600004" cy="647700"/>
          </a:xfrm>
          <a:prstGeom prst="roundRect">
            <a:avLst>
              <a:gd name="adj" fmla="val 8824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4057650"/>
            <a:ext cx="34776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(Original Scale)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71500" y="4229100"/>
            <a:ext cx="34776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Step: -19.1% permanent reduction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71500" y="4381500"/>
            <a:ext cx="34776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Pulse: +5.7% one-day spike (not significant)</a:t>
            </a:r>
            <a:endParaRPr lang="en-US" sz="75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194" y="614642"/>
            <a:ext cx="4665858" cy="310010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90" y="800100"/>
            <a:ext cx="2705100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5750"/>
            <a:ext cx="41873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Impact Analysis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307806" y="1536502"/>
            <a:ext cx="3359944" cy="718096"/>
          </a:xfrm>
          <a:prstGeom prst="roundRect">
            <a:avLst>
              <a:gd name="adj" fmla="val 795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22106" y="1650802"/>
            <a:ext cx="31939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Accuracy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422106" y="1854547"/>
            <a:ext cx="31939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RMSE: 76,067 MWh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22106" y="2006947"/>
            <a:ext cx="31939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MAPE: 8.7%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307806" y="2349847"/>
            <a:ext cx="3359944" cy="718096"/>
          </a:xfrm>
          <a:prstGeom prst="roundRect">
            <a:avLst>
              <a:gd name="adj" fmla="val 795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22106" y="2464147"/>
            <a:ext cx="31939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 Comparison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422106" y="2667893"/>
            <a:ext cx="31939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Policy: 730,418 MWh/day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422106" y="2820293"/>
            <a:ext cx="31939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Policy: 903,172 MWh/day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307806" y="3163193"/>
            <a:ext cx="3359944" cy="824657"/>
          </a:xfrm>
          <a:prstGeom prst="roundRect">
            <a:avLst>
              <a:gd name="adj" fmla="val 693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22106" y="3277493"/>
            <a:ext cx="31939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Reduction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422106" y="3462189"/>
            <a:ext cx="319397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22106" y="3740200"/>
            <a:ext cx="31939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demand reduction from policy intervention</a:t>
            </a:r>
            <a:endParaRPr lang="en-US" sz="75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3462189"/>
            <a:ext cx="4674869" cy="143220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627819"/>
            <a:ext cx="4611116" cy="151247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2438281"/>
            <a:ext cx="3800475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381000"/>
            <a:ext cx="418738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76250" y="800100"/>
            <a:ext cx="83553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750"/>
              </a:spcBef>
              <a:buNone/>
            </a:pPr>
            <a:r>
              <a:rPr lang="en-US" sz="105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Summative Assessment 2 Findings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6250" y="2034629"/>
            <a:ext cx="2628900" cy="1367582"/>
          </a:xfrm>
          <a:prstGeom prst="roundRect">
            <a:avLst>
              <a:gd name="adj" fmla="val 557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" y="2187029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628650" y="2562225"/>
            <a:ext cx="23705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GARCH(1,1) with Student-t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28650" y="2964061"/>
            <a:ext cx="23705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volatility clustering in SPY returns. Persistence near 1.0. No residual ARCH effects.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57550" y="2034629"/>
            <a:ext cx="2628900" cy="1367582"/>
          </a:xfrm>
          <a:prstGeom prst="roundRect">
            <a:avLst>
              <a:gd name="adj" fmla="val 557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09950" y="2187029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B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409950" y="2562225"/>
            <a:ext cx="23705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ARIMAX Transfer Function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409950" y="2964061"/>
            <a:ext cx="23705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has limited delayed impact on sales. Seasonal component essential.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038850" y="2034629"/>
            <a:ext cx="2628900" cy="1367582"/>
          </a:xfrm>
          <a:prstGeom prst="roundRect">
            <a:avLst>
              <a:gd name="adj" fmla="val 557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91250" y="2187029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191250" y="2562225"/>
            <a:ext cx="23705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SARIMAX Intervention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191250" y="2964061"/>
            <a:ext cx="23705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intervention reduced demand by 19%. Step effect dominates long-run impact.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94335" y="4697760"/>
            <a:ext cx="83553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Lansangan | Ramilo | Yang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737</Words>
  <Application>Microsoft Office PowerPoint</Application>
  <PresentationFormat>On-screen Show (16:9)</PresentationFormat>
  <Paragraphs>158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SA2 - Time Series Analysis</dc:title>
  <dc:subject>Summative Assessment 2 Findings</dc:subject>
  <dc:creator>Lansangan, Ramilo, Yang</dc:creator>
  <cp:lastModifiedBy>richersoon</cp:lastModifiedBy>
  <cp:revision>5</cp:revision>
  <dcterms:created xsi:type="dcterms:W3CDTF">2025-12-13T06:17:36Z</dcterms:created>
  <dcterms:modified xsi:type="dcterms:W3CDTF">2025-12-13T07:27:18Z</dcterms:modified>
</cp:coreProperties>
</file>